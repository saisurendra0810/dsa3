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48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37172" y="71021"/>
            <a:ext cx="9223900" cy="3273456"/>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t>
            </a:r>
            <a:r>
              <a:rPr lang="en-US" sz="4000" b="1" dirty="0" smtClean="0">
                <a:solidFill>
                  <a:srgbClr val="C00000"/>
                </a:solidFill>
                <a:latin typeface="+mn-lt"/>
              </a:rPr>
              <a:t>   Intelligent Optimal Route Planning Using   Bit mask Dynamic Programming for the Travelling Salesman Proble</a:t>
            </a:r>
            <a:r>
              <a:rPr lang="en-US" sz="4000" b="1" dirty="0">
                <a:solidFill>
                  <a:srgbClr val="C00000"/>
                </a:solidFill>
                <a:latin typeface="+mn-lt"/>
              </a:rPr>
              <a:t>m</a:t>
            </a:r>
          </a:p>
        </p:txBody>
      </p:sp>
      <p:sp>
        <p:nvSpPr>
          <p:cNvPr id="3" name="Subtitle 2"/>
          <p:cNvSpPr>
            <a:spLocks noGrp="1"/>
          </p:cNvSpPr>
          <p:nvPr>
            <p:ph type="subTitle" idx="1"/>
          </p:nvPr>
        </p:nvSpPr>
        <p:spPr>
          <a:xfrm>
            <a:off x="3844031" y="3513524"/>
            <a:ext cx="6303145" cy="1866344"/>
          </a:xfrm>
        </p:spPr>
        <p:txBody>
          <a:bodyPr/>
          <a:lstStyle/>
          <a:p>
            <a:r>
              <a:rPr lang="en-US" dirty="0">
                <a:solidFill>
                  <a:srgbClr val="0070C0"/>
                </a:solidFill>
              </a:rPr>
              <a:t>Team Members</a:t>
            </a:r>
          </a:p>
          <a:p>
            <a:r>
              <a:rPr lang="en-US" dirty="0" smtClean="0">
                <a:solidFill>
                  <a:srgbClr val="0070C0"/>
                </a:solidFill>
              </a:rPr>
              <a:t>SAI SURENDRANATH PENDYALA - 2520030157</a:t>
            </a:r>
          </a:p>
          <a:p>
            <a:r>
              <a:rPr lang="en-US" dirty="0" smtClean="0">
                <a:solidFill>
                  <a:srgbClr val="0070C0"/>
                </a:solidFill>
              </a:rPr>
              <a:t>ROHAN RAJA GOPAL - 2520030319</a:t>
            </a:r>
          </a:p>
          <a:p>
            <a:r>
              <a:rPr lang="en-US" dirty="0" smtClean="0">
                <a:solidFill>
                  <a:srgbClr val="0070C0"/>
                </a:solidFill>
              </a:rPr>
              <a:t>KODURU REVANTH - 2520030545</a:t>
            </a:r>
            <a:endParaRPr lang="en-US" dirty="0">
              <a:solidFill>
                <a:srgbClr val="0070C0"/>
              </a:solidFill>
            </a:endParaRPr>
          </a:p>
          <a:p>
            <a:endParaRPr lang="en-US" sz="1800" kern="0" dirty="0">
              <a:solidFill>
                <a:srgbClr val="000000"/>
              </a:solidFill>
              <a:latin typeface="Times New Roman" panose="02020603050405020304" pitchFamily="18" charset="0"/>
            </a:endParaRPr>
          </a:p>
          <a:p>
            <a:r>
              <a:rPr lang="en-US" sz="1800" kern="0" dirty="0" smtClean="0">
                <a:solidFill>
                  <a:srgbClr val="000000"/>
                </a:solidFill>
                <a:latin typeface="Times New Roman" panose="02020603050405020304" pitchFamily="18" charset="0"/>
              </a:rPr>
              <a:t>Under The Esteemed Guidance of </a:t>
            </a:r>
          </a:p>
          <a:p>
            <a:r>
              <a:rPr lang="en-US" sz="1800" b="1" kern="0" dirty="0" smtClean="0">
                <a:solidFill>
                  <a:srgbClr val="000000"/>
                </a:solidFill>
                <a:latin typeface="Times New Roman" panose="02020603050405020304" pitchFamily="18" charset="0"/>
              </a:rPr>
              <a:t>J. </a:t>
            </a:r>
            <a:r>
              <a:rPr lang="en-US" sz="1800" b="1" kern="0" dirty="0" err="1" smtClean="0">
                <a:solidFill>
                  <a:srgbClr val="000000"/>
                </a:solidFill>
                <a:latin typeface="Times New Roman" panose="02020603050405020304" pitchFamily="18" charset="0"/>
              </a:rPr>
              <a:t>Yamini</a:t>
            </a:r>
            <a:r>
              <a:rPr lang="en-US" sz="1800" b="1" kern="0" dirty="0" smtClean="0">
                <a:solidFill>
                  <a:srgbClr val="000000"/>
                </a:solidFill>
                <a:latin typeface="Times New Roman" panose="02020603050405020304" pitchFamily="18" charset="0"/>
              </a:rPr>
              <a:t> Devi </a:t>
            </a:r>
          </a:p>
          <a:p>
            <a:r>
              <a:rPr lang="en-US" sz="1800" b="1" kern="0" dirty="0" smtClean="0">
                <a:solidFill>
                  <a:srgbClr val="000000"/>
                </a:solidFill>
                <a:latin typeface="Times New Roman" panose="02020603050405020304" pitchFamily="18" charset="0"/>
              </a:rPr>
              <a:t>Assistant Professor, CSE</a:t>
            </a:r>
            <a:endParaRPr lang="en-US" b="1"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Rectangle 3"/>
          <p:cNvSpPr/>
          <p:nvPr/>
        </p:nvSpPr>
        <p:spPr>
          <a:xfrm>
            <a:off x="2068497" y="2342238"/>
            <a:ext cx="8913181" cy="3139321"/>
          </a:xfrm>
          <a:prstGeom prst="rect">
            <a:avLst/>
          </a:prstGeom>
        </p:spPr>
        <p:txBody>
          <a:bodyPr wrap="square">
            <a:spAutoFit/>
          </a:bodyPr>
          <a:lstStyle/>
          <a:p>
            <a:pPr algn="just"/>
            <a:r>
              <a:rPr lang="en-US" dirty="0"/>
              <a:t>The Intelligent Optimal Route Planning Using Bit mask </a:t>
            </a:r>
            <a:r>
              <a:rPr lang="en-US" dirty="0" smtClean="0"/>
              <a:t>Dynamic Programming </a:t>
            </a:r>
            <a:r>
              <a:rPr lang="en-US" dirty="0"/>
              <a:t>for the Travelling Salesman </a:t>
            </a:r>
            <a:r>
              <a:rPr lang="en-US" dirty="0" smtClean="0"/>
              <a:t>Problem project develops an efficient </a:t>
            </a:r>
            <a:r>
              <a:rPr lang="en-US" dirty="0"/>
              <a:t>route-planning system for solving the Travelling </a:t>
            </a:r>
            <a:r>
              <a:rPr lang="en-US" dirty="0" smtClean="0"/>
              <a:t>Salesman Problem(TSP</a:t>
            </a:r>
            <a:r>
              <a:rPr lang="en-US" dirty="0"/>
              <a:t>). The system determines the minimum-cost route that visits </a:t>
            </a:r>
            <a:r>
              <a:rPr lang="en-US" dirty="0" smtClean="0"/>
              <a:t>every city exactly </a:t>
            </a:r>
            <a:r>
              <a:rPr lang="en-US" dirty="0"/>
              <a:t>once and returns to the starting city. Bit mask Dynamic </a:t>
            </a:r>
            <a:r>
              <a:rPr lang="en-US" dirty="0" smtClean="0"/>
              <a:t>Programming is used </a:t>
            </a:r>
            <a:r>
              <a:rPr lang="en-US" dirty="0"/>
              <a:t>to efficiently represent visited cities and avoid repeated calculations, reducing the computational complexity compared with a brute-force approach. The system accepts a set of cities and their corresponding travel </a:t>
            </a:r>
            <a:r>
              <a:rPr lang="en-US" dirty="0" smtClean="0"/>
              <a:t>costs or distances</a:t>
            </a:r>
            <a:r>
              <a:rPr lang="en-US" dirty="0"/>
              <a:t>, computes the optimal route, and displays both the </a:t>
            </a:r>
            <a:r>
              <a:rPr lang="en-US" dirty="0" smtClean="0"/>
              <a:t>selected path and its </a:t>
            </a:r>
            <a:r>
              <a:rPr lang="en-US" dirty="0"/>
              <a:t>total travel cost. A route visualization component is also included </a:t>
            </a:r>
            <a:r>
              <a:rPr lang="en-US" dirty="0" smtClean="0"/>
              <a:t>to provide a </a:t>
            </a:r>
            <a:r>
              <a:rPr lang="en-US" dirty="0"/>
              <a:t>clear graphical representation of the generated tour. The project </a:t>
            </a:r>
            <a:r>
              <a:rPr lang="en-US" dirty="0" smtClean="0"/>
              <a:t>demonstrates the </a:t>
            </a:r>
            <a:r>
              <a:rPr lang="en-US" dirty="0"/>
              <a:t>practical application of bit masking, dynamic programming, </a:t>
            </a:r>
            <a:r>
              <a:rPr lang="en-US" dirty="0" smtClean="0"/>
              <a:t>state-space optimization</a:t>
            </a:r>
            <a:r>
              <a:rPr lang="en-US" dirty="0"/>
              <a:t>, and combinatorial optimization in solving </a:t>
            </a:r>
            <a:r>
              <a:rPr lang="en-US" dirty="0" smtClean="0"/>
              <a:t>complex route-planning </a:t>
            </a:r>
            <a:r>
              <a:rPr lang="en-US" dirty="0"/>
              <a:t>problems.</a:t>
            </a:r>
            <a:endParaRPr lang="en-IN"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Rectangle 4"/>
          <p:cNvSpPr/>
          <p:nvPr/>
        </p:nvSpPr>
        <p:spPr>
          <a:xfrm>
            <a:off x="2015232" y="2581974"/>
            <a:ext cx="8966445" cy="2308324"/>
          </a:xfrm>
          <a:prstGeom prst="rect">
            <a:avLst/>
          </a:prstGeom>
        </p:spPr>
        <p:txBody>
          <a:bodyPr wrap="square">
            <a:spAutoFit/>
          </a:bodyPr>
          <a:lstStyle/>
          <a:p>
            <a:pPr algn="just"/>
            <a:r>
              <a:rPr lang="en-US" dirty="0"/>
              <a:t>The Travelling Salesman Problem (TSP) is a well-known combinatorial optimization problem in which the objective is to find the minimum-cost route that visits every city exactly once and returns to the starting city. Finding the optimal route using a brute-force approach becomes difficult as the number of cities increases because the number of possible routes grows rapidly. This project uses Bit Mask Dynamic Programming to efficiently solve the TSP by representing visited cities using bit masks and avoiding repeated calculations through dynamic programming. The system determines the optimal route and its total travel cost and also provides a visual representation of the generated tour for better understanding.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ectangle 3"/>
          <p:cNvSpPr/>
          <p:nvPr/>
        </p:nvSpPr>
        <p:spPr>
          <a:xfrm>
            <a:off x="2660072" y="2434597"/>
            <a:ext cx="8552425" cy="2585323"/>
          </a:xfrm>
          <a:prstGeom prst="rect">
            <a:avLst/>
          </a:prstGeom>
        </p:spPr>
        <p:txBody>
          <a:bodyPr wrap="square">
            <a:spAutoFit/>
          </a:bodyPr>
          <a:lstStyle/>
          <a:p>
            <a:pPr algn="just"/>
            <a:r>
              <a:rPr lang="en-US" dirty="0"/>
              <a:t>Various approaches have been developed to solve the Travelling Salesman Problem. Traditional brute-force methods check all possible routes to find the optimal solution, but their computational complexity becomes very high as the number of cities increases. Greedy algorithms provide faster solutions but may not always produce the optimal route. Dynamic Programming improves efficiency by storing the results of previously solved </a:t>
            </a:r>
            <a:r>
              <a:rPr lang="en-US" dirty="0" smtClean="0"/>
              <a:t>sub problems</a:t>
            </a:r>
            <a:r>
              <a:rPr lang="en-US" dirty="0"/>
              <a:t>, while bit masking provides an efficient way to represent the set of visited cities. The combination of Bit Masking and Dynamic Programming provides an effective exact solution for small and medium-sized TSP instances. Route visualization can further improve the understanding of the selected optimal tour and its travel cost.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Rectangle 4"/>
          <p:cNvSpPr/>
          <p:nvPr/>
        </p:nvSpPr>
        <p:spPr>
          <a:xfrm>
            <a:off x="2309672" y="2558885"/>
            <a:ext cx="8387919" cy="2862322"/>
          </a:xfrm>
          <a:prstGeom prst="rect">
            <a:avLst/>
          </a:prstGeom>
        </p:spPr>
        <p:txBody>
          <a:bodyPr wrap="square">
            <a:spAutoFit/>
          </a:bodyPr>
          <a:lstStyle/>
          <a:p>
            <a:pPr algn="just"/>
            <a:r>
              <a:rPr lang="en-US" dirty="0"/>
              <a:t>The main problem addressed by this project is to develop an efficient route-planning system that determines the minimum-cost tour for the Travelling Salesman Problem. The system must ensure that every city is visited exactly once and that the route returns to the starting city. The primary objectives are to implement TSP using Bit Mask Dynamic Programming, efficiently represent visited cities using bit masks, reduce repeated calculations through dynamic programming, calculate the minimum travel cost, identify and display the optimal route, and provide a graphical visualization of the generated tour. The project also aims to demonstrate the practical application of bit masking, dynamic programming, state-space optimization, and combinatorial optimization in route planning.</a:t>
            </a:r>
            <a:endParaRPr lang="en-IN"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Rectangle 3"/>
          <p:cNvSpPr/>
          <p:nvPr/>
        </p:nvSpPr>
        <p:spPr>
          <a:xfrm>
            <a:off x="2263805" y="2502075"/>
            <a:ext cx="8087557" cy="2585323"/>
          </a:xfrm>
          <a:prstGeom prst="rect">
            <a:avLst/>
          </a:prstGeom>
        </p:spPr>
        <p:txBody>
          <a:bodyPr wrap="square">
            <a:spAutoFit/>
          </a:bodyPr>
          <a:lstStyle/>
          <a:p>
            <a:pPr algn="just"/>
            <a:r>
              <a:rPr lang="en-US" dirty="0"/>
              <a:t>The developed system successfully calculates the optimal route for the given set of cities using Bit Mask Dynamic Programming. The bit mask efficiently keeps track of the cities that have already been visited, while dynamic programming avoids solving the same </a:t>
            </a:r>
            <a:r>
              <a:rPr lang="en-US" dirty="0" smtClean="0"/>
              <a:t>sub problems </a:t>
            </a:r>
            <a:r>
              <a:rPr lang="en-US" dirty="0"/>
              <a:t>repeatedly. The system provides the optimal route, minimum travel cost or distance, and the starting and ending city. The generated route can also be represented graphically to make the solution easier to understand. Compared with brute-force enumeration, the proposed approach reduces unnecessary route calculations and demonstrates how state-space optimization can improve the efficiency of solving the Travelling Salesman Problem.</a:t>
            </a:r>
            <a:endParaRPr lang="en-IN"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ectangle 3"/>
          <p:cNvSpPr/>
          <p:nvPr/>
        </p:nvSpPr>
        <p:spPr>
          <a:xfrm>
            <a:off x="2308194" y="2676085"/>
            <a:ext cx="8256233" cy="2585323"/>
          </a:xfrm>
          <a:prstGeom prst="rect">
            <a:avLst/>
          </a:prstGeom>
        </p:spPr>
        <p:txBody>
          <a:bodyPr wrap="square">
            <a:spAutoFit/>
          </a:bodyPr>
          <a:lstStyle/>
          <a:p>
            <a:pPr algn="just"/>
            <a:r>
              <a:rPr lang="en-US" dirty="0"/>
              <a:t>The hardware requirements for implementing the project include a computer or laptop with an Intel Core i3 processor or above, a minimum of 4 GB RAM, at least 500 MB of available storage space, a keyboard, mouse, and monitor or display. The software requirements include Windows or Linux as the operating system, Java (JDK 8 or above) as the programming language, and an IDE or code editor such as Eclipse, </a:t>
            </a:r>
            <a:r>
              <a:rPr lang="en-US" dirty="0" err="1"/>
              <a:t>IntelliJ</a:t>
            </a:r>
            <a:r>
              <a:rPr lang="en-US" dirty="0"/>
              <a:t> IDEA, or Visual Studio Code. The project can use standard Java libraries and data structures such as arrays, lists, and hash maps for implementing Bit Mask Dynamic Programming. If route visualization is included, Java-based graphical libraries such as Java Swing or </a:t>
            </a:r>
            <a:r>
              <a:rPr lang="en-US" dirty="0" err="1"/>
              <a:t>JavaFX</a:t>
            </a:r>
            <a:r>
              <a:rPr lang="en-US" dirty="0"/>
              <a:t> can be used to display the generated optimal route.</a:t>
            </a:r>
            <a:endParaRPr lang="en-IN"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Rectangle 3"/>
          <p:cNvSpPr/>
          <p:nvPr/>
        </p:nvSpPr>
        <p:spPr>
          <a:xfrm>
            <a:off x="2547891" y="2448809"/>
            <a:ext cx="7830105" cy="2585323"/>
          </a:xfrm>
          <a:prstGeom prst="rect">
            <a:avLst/>
          </a:prstGeom>
        </p:spPr>
        <p:txBody>
          <a:bodyPr wrap="square">
            <a:spAutoFit/>
          </a:bodyPr>
          <a:lstStyle/>
          <a:p>
            <a:pPr algn="just"/>
            <a:r>
              <a:rPr lang="en-US" dirty="0"/>
              <a:t>The project successfully implements the Travelling Salesman Problem using Bit Mask Dynamic Programming. The proposed approach efficiently represents visited cities using bit masks and avoids repeated computations by storing previously calculated results. It determines the minimum-cost route while ensuring that every city is visited exactly once and the route returns to the starting city. For suitable problem sizes, this approach is more efficient than brute-force enumeration. Overall, the project demonstrates the practical application of bit masking, dynamic programming, state-space optimization, and combinatorial optimization in solving route-planning problems.</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Rectangle 1"/>
          <p:cNvSpPr/>
          <p:nvPr/>
        </p:nvSpPr>
        <p:spPr>
          <a:xfrm>
            <a:off x="1154097" y="2605310"/>
            <a:ext cx="10786369" cy="2862322"/>
          </a:xfrm>
          <a:prstGeom prst="rect">
            <a:avLst/>
          </a:prstGeom>
        </p:spPr>
        <p:txBody>
          <a:bodyPr wrap="square">
            <a:spAutoFit/>
          </a:bodyPr>
          <a:lstStyle/>
          <a:p>
            <a:pPr algn="just"/>
            <a:r>
              <a:rPr lang="en-US" dirty="0"/>
              <a:t>The future scope of this project includes extending the route-planning system to handle a larger number of cities using more advanced optimization techniques. The system can be integrated with real-world map and GPS services to calculate routes based on actual distances and travel conditions. Real-time traffic information can also be incorporated to provide more practical and dynamic route planning. The project can be further enhanced by comparing Bit Mask Dynamic Programming with other optimization techniques such as Genetic Algorithms, Ant Colony Optimization, and A* algorithms. A Java-based graphical interface using </a:t>
            </a:r>
            <a:r>
              <a:rPr lang="en-US" dirty="0" err="1"/>
              <a:t>JavaFX</a:t>
            </a:r>
            <a:r>
              <a:rPr lang="en-US" dirty="0"/>
              <a:t> or Swing can be developed to provide an interactive visualization of cities and routes. Future versions can also consider multiple factors such as travel time, fuel consumption, and cost while selecting the optimal route. These enhancements can make the system more suitable for real-world applications such as logistics, delivery services, transportation, and navigation systems.</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1075</Words>
  <Application>Microsoft Office PowerPoint</Application>
  <PresentationFormat>Widescreen</PresentationFormat>
  <Paragraphs>35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Gautami</vt:lpstr>
      <vt:lpstr>Times New Roman</vt:lpstr>
      <vt:lpstr>Office Theme</vt:lpstr>
      <vt:lpstr>       Data Structures and Algorithms -3 (25CS2103E)     Intelligent Optimal Route Planning Using   Bit mask Dynamic Programming for the Travelling Salesman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Sai Surendra</dc:creator>
  <cp:lastModifiedBy>Sai Surendra</cp:lastModifiedBy>
  <cp:revision>24</cp:revision>
  <dcterms:created xsi:type="dcterms:W3CDTF">2024-08-29T05:25:00Z</dcterms:created>
  <dcterms:modified xsi:type="dcterms:W3CDTF">2026-08-22T15:51:40Z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